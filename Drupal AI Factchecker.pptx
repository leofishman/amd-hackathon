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SemiBold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Sebastian Fishman"/>
  <p:cmAuthor clrIdx="1" id="1" initials="" lastIdx="2" name="Leo Fishma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SemiBold-regular.fntdata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06T22:24:33.815">
    <p:pos x="654" y="2053"/>
    <p:text>Este es el language comun? corpus?
La cambie la coma al final por un punto.</p:text>
  </p:cm>
  <p:cm authorId="1" idx="1" dt="2026-07-06T22:24:33.815">
    <p:pos x="654" y="2053"/>
    <p:text>si, el corpus de informacion, creo que es asi, no vi la coma.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7-06T22:27:09.428">
    <p:pos x="2988" y="2550"/>
    <p:text>Honestly framed? es una expression tecnica?</p:text>
  </p:cm>
  <p:cm authorId="1" idx="2" dt="2026-07-06T22:27:09.428">
    <p:pos x="2988" y="2550"/>
    <p:text>segun google, parece que si:Sí, la expresión "honestly framed" es perfectamente correcta, precisa y muy recomendada en ese contexto.En el ámbito del software y la inteligencia artificial, se utiliza "framed" (de framing o encuadre) para definir cómo se le presentan las expectativas al usuario para que no malinterprete los resultados.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17.png"/><Relationship Id="rId11" Type="http://schemas.openxmlformats.org/officeDocument/2006/relationships/image" Target="../media/image15.png"/><Relationship Id="rId10" Type="http://schemas.openxmlformats.org/officeDocument/2006/relationships/image" Target="../media/image6.png"/><Relationship Id="rId12" Type="http://schemas.openxmlformats.org/officeDocument/2006/relationships/image" Target="../media/image7.png"/><Relationship Id="rId9" Type="http://schemas.openxmlformats.org/officeDocument/2006/relationships/image" Target="../media/image22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11" Type="http://schemas.openxmlformats.org/officeDocument/2006/relationships/image" Target="../media/image28.png"/><Relationship Id="rId10" Type="http://schemas.openxmlformats.org/officeDocument/2006/relationships/image" Target="../media/image30.png"/><Relationship Id="rId12" Type="http://schemas.openxmlformats.org/officeDocument/2006/relationships/image" Target="../media/image29.png"/><Relationship Id="rId9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53.png"/><Relationship Id="rId9" Type="http://schemas.openxmlformats.org/officeDocument/2006/relationships/image" Target="../media/image33.png"/><Relationship Id="rId5" Type="http://schemas.openxmlformats.org/officeDocument/2006/relationships/image" Target="../media/image23.png"/><Relationship Id="rId6" Type="http://schemas.openxmlformats.org/officeDocument/2006/relationships/image" Target="../media/image39.png"/><Relationship Id="rId7" Type="http://schemas.openxmlformats.org/officeDocument/2006/relationships/image" Target="../media/image51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Relationship Id="rId6" Type="http://schemas.openxmlformats.org/officeDocument/2006/relationships/image" Target="../media/image49.png"/><Relationship Id="rId7" Type="http://schemas.openxmlformats.org/officeDocument/2006/relationships/image" Target="../media/image37.png"/><Relationship Id="rId8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41.png"/><Relationship Id="rId5" Type="http://schemas.openxmlformats.org/officeDocument/2006/relationships/image" Target="../media/image50.png"/><Relationship Id="rId6" Type="http://schemas.openxmlformats.org/officeDocument/2006/relationships/image" Target="../media/image48.png"/><Relationship Id="rId7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38.png"/><Relationship Id="rId9" Type="http://schemas.openxmlformats.org/officeDocument/2006/relationships/image" Target="../media/image45.png"/><Relationship Id="rId5" Type="http://schemas.openxmlformats.org/officeDocument/2006/relationships/image" Target="../media/image44.png"/><Relationship Id="rId6" Type="http://schemas.openxmlformats.org/officeDocument/2006/relationships/image" Target="../media/image40.png"/><Relationship Id="rId7" Type="http://schemas.openxmlformats.org/officeDocument/2006/relationships/image" Target="../media/image43.png"/><Relationship Id="rId8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4685258"/>
            <a:ext cx="5715000" cy="68758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38225" y="1485155"/>
            <a:ext cx="1110138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Drupal AI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4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Factchecker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38225" y="3260377"/>
            <a:ext cx="10572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Claim-level verification on your own </a:t>
            </a:r>
            <a:r>
              <a:rPr b="0" i="0" lang="en-US" sz="21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corpus</a:t>
            </a:r>
            <a:r>
              <a:rPr lang="en-US" sz="2100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ED1C24"/>
                </a:solidFill>
                <a:latin typeface="Urbanist"/>
                <a:ea typeface="Urbanist"/>
                <a:cs typeface="Urbanist"/>
                <a:sym typeface="Urbanist"/>
              </a:rPr>
              <a:t>powered by AMD.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38225" y="4885283"/>
            <a:ext cx="5715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Team:</a:t>
            </a:r>
            <a:r>
              <a:rPr b="0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Drupal AI Router (Leo Fishman)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38225" y="5129063"/>
            <a:ext cx="5715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License:</a:t>
            </a:r>
            <a:r>
              <a:rPr b="0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GPL-2.0+, published on drupal.org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86136"/>
            <a:ext cx="5229225" cy="362857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2202656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Pre-existing software is </a:t>
            </a: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excessively expensive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and operates as a closed, proprietary system.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101578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Universities and governments have </a:t>
            </a: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almost zero control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over how their sensitive data is processed.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4000500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Tools detect </a:t>
            </a: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copying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, not falsehoods. AI-generated essays are "original" and undetectable.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4899421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Editors and educators lack an in-workflow tool to verify factual accuracy.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95661"/>
            <a:ext cx="5210175" cy="3609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25504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15396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05288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951809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Problem with Current Tools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512" y="1857375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6381750" y="271492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Where the content lives, under your control.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381750" y="3248322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Institutions facing this problem (governments, universities) already run Drupal massively (.edu, .gov).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381750" y="4128194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Unlike closed SaaS products, a </a:t>
            </a:r>
            <a:r>
              <a:rPr b="0" i="0" lang="en-US" sz="16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highly configurable open-source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Drupal module offers </a:t>
            </a: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tight integration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with your own content, keeping your data strictly in-house.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0612" y="1895475"/>
            <a:ext cx="42100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Solution: Native Integration &amp; Control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190750"/>
            <a:ext cx="3486150" cy="3619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2925" y="2190750"/>
            <a:ext cx="3486150" cy="3619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4825" y="2190750"/>
            <a:ext cx="3486150" cy="3619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550" y="25812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971550" y="3571875"/>
            <a:ext cx="14429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Factcheck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71550" y="4048125"/>
            <a:ext cx="27051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Atomic claim extraction and evidence retrieval. Per-claim verdict (SUPPORTED / UNSUPPORTED / CONTRADICTED) with auditable score.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43450" y="25812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4743450" y="3571875"/>
            <a:ext cx="185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AI Likelihood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743450" y="4048125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0–100 score with rationale. </a:t>
            </a:r>
            <a:r>
              <a:rPr b="0" i="0" lang="en-US" sz="13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Honestly </a:t>
            </a:r>
            <a:r>
              <a:rPr b="0" i="0" lang="en-US" sz="13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framed: presented as a contextual hint, not a definitive mathematical proof.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15350" y="25812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515350" y="3571875"/>
            <a:ext cx="27972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Verbatim Plagiarism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15350" y="4048125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Identifies the text's most distinctive sentences and searches them as exact phrases on the web to detect unoriginal copies.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33950" y="27717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05850" y="27717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Product: Native Integrity Suite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27969"/>
            <a:ext cx="3486150" cy="3345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27969"/>
            <a:ext cx="3486150" cy="3345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27969"/>
            <a:ext cx="3486150" cy="3345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71849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971550" y="3709094"/>
            <a:ext cx="22707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Evidence Cascade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71550" y="4185344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The university's OWN indexed corpus is prioritized first. Verdicts are securely grounded in your institutional knowledge.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3450" y="271849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4743450" y="3709094"/>
            <a:ext cx="13975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Distrust List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743450" y="4185344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Claims echoed only by known misinformation domains are marked as tainted. Misinformation sites asserting a claim counts AGAINST it.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5350" y="271849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8515350" y="3709094"/>
            <a:ext cx="186195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100% Auditable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515350" y="4185344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Every model call and routing decision is meticulously logged. No other tool combines local evidence with transparent logging.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8237" y="290899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33950" y="29089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82037" y="2908994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Key Differentiators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73560"/>
            <a:ext cx="354969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2773560"/>
            <a:ext cx="354969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773560"/>
            <a:ext cx="3549699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81025" y="1817489"/>
            <a:ext cx="11029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All inference (claim extraction + verification) runs on an </a:t>
            </a: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AMD Instinct GPU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: ROCm 7.2 + vLLM 0.16 serving Gemma. Student work NEVER leaves institution-controlled hardware.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81025" y="6545460"/>
            <a:ext cx="354969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rocm-smi execution output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321224" y="6545460"/>
            <a:ext cx="354969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AMD server endpoint in Drupal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061424" y="6545460"/>
            <a:ext cx="354969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Logged routing decisions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2783085"/>
            <a:ext cx="3530649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30749" y="2783085"/>
            <a:ext cx="3530649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70949" y="2783085"/>
            <a:ext cx="3530649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81025" y="464939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Powered by AMD Instinct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81025" y="1207889"/>
            <a:ext cx="1102995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81025" y="581025"/>
            <a:ext cx="549068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Architecture Flow</a:t>
            </a:r>
            <a:endParaRPr/>
          </a:p>
        </p:txBody>
      </p:sp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9525"/>
            <a:ext cx="58007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581025" y="5084266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D1C2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Everything—models, backends, evidence sources, trust lists—is Drupal configuration, not code.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62025" y="1979711"/>
            <a:ext cx="46482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Trigger: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Drupal Node → Content Scan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62025" y="2543472"/>
            <a:ext cx="46482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Routing: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ai_provider_universal router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62025" y="3107233"/>
            <a:ext cx="46482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Processing: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AMD GPU (vLLM/Gemma)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62025" y="3671001"/>
            <a:ext cx="5109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Retrieval: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Vector index (local corpus) + Tavily (web)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62025" y="4234755"/>
            <a:ext cx="46482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Auditing: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Securely logged decisions report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3209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59586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5962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72338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8714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581025" y="581025"/>
            <a:ext cx="549068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Real and Ready</a:t>
            </a:r>
            <a:endParaRPr/>
          </a:p>
        </p:txBody>
      </p:sp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9525"/>
            <a:ext cx="58007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962025" y="2313086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Built as a real, production-ready open-source module on </a:t>
            </a: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drupal.org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962025" y="3212008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Built directly on top of the official Drupal AI ecosystem.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962025" y="4110930"/>
            <a:ext cx="48482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Backed by months of prior foundational work.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62025" y="4674691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Hackathon Delta:</a:t>
            </a: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 Adding the critical AMD serving layer and defining the university use case.</a:t>
            </a:r>
            <a:endParaRPr/>
          </a:p>
        </p:txBody>
      </p:sp>
      <p:pic>
        <p:nvPicPr>
          <p:cNvPr descr="image.png" id="208" name="Google Shape;20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36547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64396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16331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727078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71750"/>
            <a:ext cx="52292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971550" y="2962275"/>
            <a:ext cx="44481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ED1C24"/>
                </a:solidFill>
                <a:latin typeface="Urbanist"/>
                <a:ea typeface="Urbanist"/>
                <a:cs typeface="Urbanist"/>
                <a:sym typeface="Urbanist"/>
              </a:rPr>
              <a:t>$1.2B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971550" y="4391025"/>
            <a:ext cx="4448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PLAGIARISM DETECTION MARKET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381750" y="254734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Ready for Enterprise Budgets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381750" y="3080742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Universities already allocate massive budgets for content integrity tooling. This solution slots perfectly into their existing CMS at a fraction of the cost.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381750" y="4295775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Beyond academia, the exact same pipeline serves the urgent needs of newsrooms and government content teams.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Market Opportunity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7625" y="5633888"/>
            <a:ext cx="44767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305276" y="700236"/>
            <a:ext cx="11581447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D1C24"/>
                </a:solidFill>
                <a:latin typeface="Urbanist"/>
                <a:ea typeface="Urbanist"/>
                <a:cs typeface="Urbanist"/>
                <a:sym typeface="Urbanist"/>
              </a:rPr>
              <a:t>Claim-level truth.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581025" y="1786086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Where the content lives, </a:t>
            </a:r>
            <a:r>
              <a:rPr b="0" i="0" lang="en-US" sz="21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on AMD</a:t>
            </a:r>
            <a:r>
              <a:rPr b="0" i="0" lang="en-US" sz="2100" u="none" cap="none" strike="noStrike">
                <a:solidFill>
                  <a:srgbClr val="E5E5E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81025" y="2593776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Explore the project: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581025" y="3127176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GitHub Repo &amp; Demos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581025" y="3721447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Demo Video Link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81025" y="4315717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drupal.org Project Page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3857625" y="5929163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37373"/>
                </a:solidFill>
                <a:latin typeface="Urbanist"/>
                <a:ea typeface="Urbanist"/>
                <a:cs typeface="Urbanist"/>
                <a:sym typeface="Urbanist"/>
              </a:rPr>
              <a:t>Drupal AI Router</a:t>
            </a:r>
            <a:endParaRPr/>
          </a:p>
        </p:txBody>
      </p:sp>
      <p:pic>
        <p:nvPicPr>
          <p:cNvPr descr="image.png" id="238" name="Google Shape;2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3184326"/>
            <a:ext cx="219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5875" y="377859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7737" y="4372867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/>
          <p:nvPr/>
        </p:nvSpPr>
        <p:spPr>
          <a:xfrm>
            <a:off x="581025" y="1551979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81025" y="253484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81025" y="331961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81025" y="410438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81025" y="488915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81025" y="252531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81025" y="252531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81025" y="331008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81025" y="331008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581025" y="409485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81025" y="409485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581025" y="487962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581025" y="487962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81025" y="56643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581025" y="56643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0052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1676400" y="1694854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https://media.istockphoto.com/id/1351817308/vector/cyber-network-vision-digital-communication-cloud.jpg?s=612x612&amp;w=0&amp;k=20&amp;c=gvc7_G0DTcU5ulKRA54cBJ7fymmXlMddWGqpi8RKdok=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1676400" y="213866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descr="image.png" id="264" name="Google Shape;26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6842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1676400" y="267771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https://static1.gensler.com/uploads/image/106927/1779399209087/project-convergence-hall-1024x576.jpg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1676400" y="292343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www.gensler.com</a:t>
            </a:r>
            <a:endParaRPr/>
          </a:p>
        </p:txBody>
      </p:sp>
      <p:pic>
        <p:nvPicPr>
          <p:cNvPr descr="image.png" id="267" name="Google Shape;26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4690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1676400" y="346248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https://miro.medium.com/v2/resize:fit:1400/1*OP2wAD2SIoZzk0T9S5wUkA.png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1676400" y="370820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itnext.io</a:t>
            </a:r>
            <a:endParaRPr/>
          </a:p>
        </p:txBody>
      </p:sp>
      <p:pic>
        <p:nvPicPr>
          <p:cNvPr descr="image.png" id="270" name="Google Shape;27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538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1676400" y="424725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https://img.magnific.com/premium-vector/ai-workspace-dashboard-with-generative-ai-tools-analytics_624163-12275.jpg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1676400" y="449297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www.magnific.com</a:t>
            </a:r>
            <a:endParaRPr/>
          </a:p>
        </p:txBody>
      </p:sp>
      <p:pic>
        <p:nvPicPr>
          <p:cNvPr descr="image.png" id="273" name="Google Shape;27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0385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1676400" y="503202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https://success.outsystems.com/TK_Resource/a69efa31-8bfa-4cad-8045-987a35ad792b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1676400" y="527774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success.outsystems.com</a:t>
            </a:r>
            <a:endParaRPr/>
          </a:p>
        </p:txBody>
      </p:sp>
      <p:pic>
        <p:nvPicPr>
          <p:cNvPr descr="image.png" id="276" name="Google Shape;27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58233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1676400" y="581679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https://images.presentationgo.com/2025/06/interconnected-digital-network.jpg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1676400" y="606251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www.presentationgo.com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581025" y="408979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581025" y="1151929"/>
            <a:ext cx="1102995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5112" y="37622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3900487" y="3755677"/>
            <a:ext cx="54864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https://cdn.shopify.com/s/files/1/0668/4160/8391/files/6a03bee2b6245ba3e5ca71ea.jpg?v=1778753301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3900487" y="4001392"/>
            <a:ext cx="5486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3A3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us.ktcplay.com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