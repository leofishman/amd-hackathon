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embeddedFontLst>
    <p:embeddedFont>
      <p:font typeface="Urbanist SemiBold"/>
      <p:regular r:id="rId18"/>
      <p:bold r:id="rId19"/>
      <p:italic r:id="rId20"/>
      <p:boldItalic r:id="rId21"/>
    </p:embeddedFont>
    <p:embeddedFont>
      <p:font typeface="Urbanist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SemiBold-italic.fntdata"/><Relationship Id="rId22" Type="http://schemas.openxmlformats.org/officeDocument/2006/relationships/font" Target="fonts/Urbanist-regular.fntdata"/><Relationship Id="rId21" Type="http://schemas.openxmlformats.org/officeDocument/2006/relationships/font" Target="fonts/UrbanistSemiBold-boldItalic.fntdata"/><Relationship Id="rId24" Type="http://schemas.openxmlformats.org/officeDocument/2006/relationships/font" Target="fonts/Urbanist-italic.fntdata"/><Relationship Id="rId23" Type="http://schemas.openxmlformats.org/officeDocument/2006/relationships/font" Target="fonts/Urbanis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Urbanis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UrbanistSemiBold-bold.fntdata"/><Relationship Id="rId18" Type="http://schemas.openxmlformats.org/officeDocument/2006/relationships/font" Target="fonts/Urbanist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2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9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12.png"/><Relationship Id="rId8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11" Type="http://schemas.openxmlformats.org/officeDocument/2006/relationships/image" Target="../media/image15.png"/><Relationship Id="rId10" Type="http://schemas.openxmlformats.org/officeDocument/2006/relationships/image" Target="../media/image18.png"/><Relationship Id="rId9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5.png"/><Relationship Id="rId8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2.png"/><Relationship Id="rId11" Type="http://schemas.openxmlformats.org/officeDocument/2006/relationships/image" Target="../media/image29.png"/><Relationship Id="rId10" Type="http://schemas.openxmlformats.org/officeDocument/2006/relationships/image" Target="../media/image26.png"/><Relationship Id="rId12" Type="http://schemas.openxmlformats.org/officeDocument/2006/relationships/image" Target="../media/image27.png"/><Relationship Id="rId9" Type="http://schemas.openxmlformats.org/officeDocument/2006/relationships/image" Target="../media/image19.png"/><Relationship Id="rId5" Type="http://schemas.openxmlformats.org/officeDocument/2006/relationships/image" Target="../media/image21.png"/><Relationship Id="rId6" Type="http://schemas.openxmlformats.org/officeDocument/2006/relationships/image" Target="../media/image24.png"/><Relationship Id="rId7" Type="http://schemas.openxmlformats.org/officeDocument/2006/relationships/image" Target="../media/image13.png"/><Relationship Id="rId8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1.png"/><Relationship Id="rId9" Type="http://schemas.openxmlformats.org/officeDocument/2006/relationships/image" Target="../media/image36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4.png"/><Relationship Id="rId8" Type="http://schemas.openxmlformats.org/officeDocument/2006/relationships/image" Target="../media/image3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37.png"/><Relationship Id="rId5" Type="http://schemas.openxmlformats.org/officeDocument/2006/relationships/image" Target="../media/image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28.png"/><Relationship Id="rId6" Type="http://schemas.openxmlformats.org/officeDocument/2006/relationships/image" Target="../media/image35.png"/><Relationship Id="rId7" Type="http://schemas.openxmlformats.org/officeDocument/2006/relationships/image" Target="../media/image32.png"/><Relationship Id="rId8" Type="http://schemas.openxmlformats.org/officeDocument/2006/relationships/image" Target="../media/image5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3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image45.png"/><Relationship Id="rId6" Type="http://schemas.openxmlformats.org/officeDocument/2006/relationships/image" Target="../media/image42.png"/><Relationship Id="rId7" Type="http://schemas.openxmlformats.org/officeDocument/2006/relationships/image" Target="../media/image4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6.png"/><Relationship Id="rId9" Type="http://schemas.openxmlformats.org/officeDocument/2006/relationships/image" Target="../media/image53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7.png"/><Relationship Id="rId8" Type="http://schemas.openxmlformats.org/officeDocument/2006/relationships/image" Target="../media/image5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8225" y="4685258"/>
            <a:ext cx="5715000" cy="68758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038225" y="1485155"/>
            <a:ext cx="11101387" cy="150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Drupal AI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540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Factchecker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38225" y="3260377"/>
            <a:ext cx="10572750" cy="85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Claim-level verification on your own corpus,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100" u="none" cap="none" strike="noStrike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rPr>
              <a:t>powered by AMD.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38225" y="4885283"/>
            <a:ext cx="5715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Team:</a:t>
            </a: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AI Router (Leo Fishman)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38225" y="5129063"/>
            <a:ext cx="5715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License:</a:t>
            </a: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GPL-2.0+, published on drupal.org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2186136"/>
            <a:ext cx="5229225" cy="3628578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962025" y="2202656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Pre-existing software is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excessively expensive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and operates as a closed, proprietary system.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62025" y="3101578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Universities and governments have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almost zero control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over how their sensitive data is processed.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62025" y="4000500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Tools detect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copying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, not falsehoods. AI-generated essays are "original" and undetectable.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62025" y="4899421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Editors and educators lack an in-workflow tool to verify factual accuracy.</a:t>
            </a:r>
            <a:endParaRPr/>
          </a:p>
        </p:txBody>
      </p:sp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91275" y="2195661"/>
            <a:ext cx="5210175" cy="36095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25504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315396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052887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1025" y="4951809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 with Current Tools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2512" y="1857375"/>
            <a:ext cx="42862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6381750" y="271492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Where the content lives, under your control.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381750" y="3248322"/>
            <a:ext cx="5229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Institutions facing this problem (governments, universities) already run Drupal massively (.edu, .gov).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381750" y="4128194"/>
            <a:ext cx="5229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Unlike closed SaaS products, a </a:t>
            </a:r>
            <a:r>
              <a:rPr b="0" i="0" lang="en-US" sz="165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highly configurable open-source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module offers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tight integration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with your own content, keeping your data strictly in-house.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0612" y="1895475"/>
            <a:ext cx="4210050" cy="421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Solution: Native Integration &amp; Control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971550" y="3571875"/>
            <a:ext cx="14429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1. Factcheck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71550" y="4048125"/>
            <a:ext cx="2705100" cy="1371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Atomic claim extraction and evidence retrieval. Per-claim verdict (SUPPORTED / UNSUPPORTED / CONTRADICTED) with auditable score.</a:t>
            </a:r>
            <a:endParaRPr/>
          </a:p>
        </p:txBody>
      </p:sp>
      <p:pic>
        <p:nvPicPr>
          <p:cNvPr descr="image.png" id="130" name="Google Shape;130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434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4743450" y="3571875"/>
            <a:ext cx="18507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2. AI Likelihood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4743450" y="4048125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0–100 score with rationale. Honestly framed: presented as a contextual hint, not a definitive mathematical proof.</a:t>
            </a:r>
            <a:endParaRPr/>
          </a:p>
        </p:txBody>
      </p:sp>
      <p:pic>
        <p:nvPicPr>
          <p:cNvPr descr="image.png" id="133" name="Google Shape;133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515350" y="3571875"/>
            <a:ext cx="2797224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3. Verbatim Plagiarism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515350" y="4048125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Identifies the text's most distinctive sentences and searches them as exact phrases on the web to detect unoriginal copies.</a:t>
            </a:r>
            <a:endParaRPr/>
          </a:p>
        </p:txBody>
      </p:sp>
      <p:pic>
        <p:nvPicPr>
          <p:cNvPr descr="image.png" id="136" name="Google Shape;136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933950" y="27717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705850" y="27717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Product: Native Integrity Suite</a:t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4" name="Google Shape;14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71550" y="3709094"/>
            <a:ext cx="227075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Evidence Cascade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9715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The university's OWN indexed corpus is prioritized first. Verdicts are securely grounded in your institutional knowledge.</a:t>
            </a:r>
            <a:endParaRPr/>
          </a:p>
        </p:txBody>
      </p:sp>
      <p:pic>
        <p:nvPicPr>
          <p:cNvPr descr="image.png" id="151" name="Google Shape;151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434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4743450" y="3709094"/>
            <a:ext cx="139751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Distrust List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7434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Claims echoed only by known misinformation domains are marked as tainted. Misinformation sites asserting a claim counts AGAINST it.</a:t>
            </a:r>
            <a:endParaRPr/>
          </a:p>
        </p:txBody>
      </p:sp>
      <p:pic>
        <p:nvPicPr>
          <p:cNvPr descr="image.png" id="154" name="Google Shape;154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8515350" y="3709094"/>
            <a:ext cx="186195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100% Auditable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85153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Every model call and routing decision is meticulously logged. No other tool combines local evidence with transparent logging.</a:t>
            </a:r>
            <a:endParaRPr/>
          </a:p>
        </p:txBody>
      </p:sp>
      <p:pic>
        <p:nvPicPr>
          <p:cNvPr descr="image.png" id="157" name="Google Shape;157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38237" y="2908994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933950" y="2908994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682037" y="2908994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Differentiators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73560"/>
            <a:ext cx="3549699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21224" y="2773560"/>
            <a:ext cx="3549699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424" y="2773560"/>
            <a:ext cx="3549699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581025" y="1817489"/>
            <a:ext cx="110299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All inference (claim extraction + verification) runs on an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AMD Instinct GPU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: ROCm 7.2 + vLLM 0.16 serving Gemma. Student work NEVER leaves institution-controlled hardware.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81025" y="6545460"/>
            <a:ext cx="35496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rocm-smi execution output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4321224" y="6545460"/>
            <a:ext cx="35496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AMD server endpoint in Drupal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8061424" y="6545460"/>
            <a:ext cx="35496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Logged routing decisions</a:t>
            </a:r>
            <a:endParaRPr/>
          </a:p>
        </p:txBody>
      </p:sp>
      <p:pic>
        <p:nvPicPr>
          <p:cNvPr descr="image.png" id="174" name="Google Shape;174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0550" y="2783085"/>
            <a:ext cx="3530649" cy="3600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330749" y="2783085"/>
            <a:ext cx="3530649" cy="3600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70949" y="2783085"/>
            <a:ext cx="3530649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8"/>
          <p:cNvSpPr txBox="1"/>
          <p:nvPr/>
        </p:nvSpPr>
        <p:spPr>
          <a:xfrm>
            <a:off x="581025" y="464939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Powered by AMD Instinct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81025" y="1207889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581025" y="581025"/>
            <a:ext cx="5490686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Architecture Flow</a:t>
            </a:r>
            <a:endParaRPr/>
          </a:p>
        </p:txBody>
      </p:sp>
      <p:pic>
        <p:nvPicPr>
          <p:cNvPr descr="image.png" id="185" name="Google Shape;18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9525"/>
            <a:ext cx="58007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581025" y="5084266"/>
            <a:ext cx="5229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ED1C24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Everything—models, backends, evidence sources, trust lists—is Drupal configuration, not code.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962025" y="1979711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Trigger: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Node → Content Scan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962025" y="2543472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Routing: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ai_provider_universal router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962025" y="3107233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Processing: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AMD GPU (vLLM/Gemma)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962025" y="3670994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Retrieval: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Vector index (local corpus) + Tavily (web)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962025" y="4234755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Auditing: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Securely logged decisions report</a:t>
            </a:r>
            <a:endParaRPr/>
          </a:p>
        </p:txBody>
      </p:sp>
      <p:pic>
        <p:nvPicPr>
          <p:cNvPr descr="image.png" id="192" name="Google Shape;192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3209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59586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159621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72338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4287142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581025" y="581025"/>
            <a:ext cx="5490686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Real and Ready</a:t>
            </a:r>
            <a:endParaRPr/>
          </a:p>
        </p:txBody>
      </p:sp>
      <p:pic>
        <p:nvPicPr>
          <p:cNvPr descr="image.png" id="203" name="Google Shape;20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9525"/>
            <a:ext cx="58007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962025" y="2313086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Built as a real, production-ready open-source module on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drupal.org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962025" y="3212008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Built directly on top of the official Drupal AI ecosystem.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962025" y="4110930"/>
            <a:ext cx="4848225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Backed by months of prior foundational work.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962025" y="4674691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Hackathon Delta: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Adding the critical AMD serving layer and defining the university use case.</a:t>
            </a:r>
            <a:endParaRPr/>
          </a:p>
        </p:txBody>
      </p:sp>
      <p:pic>
        <p:nvPicPr>
          <p:cNvPr descr="image.png" id="208" name="Google Shape;20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365474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26439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16331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727078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6" name="Google Shape;21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71750"/>
            <a:ext cx="5229225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1"/>
          <p:cNvSpPr txBox="1"/>
          <p:nvPr/>
        </p:nvSpPr>
        <p:spPr>
          <a:xfrm>
            <a:off x="971550" y="2962275"/>
            <a:ext cx="4448175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0" u="none" cap="none" strike="noStrike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rPr>
              <a:t>$1.2B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971550" y="4391025"/>
            <a:ext cx="44481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PLAGIARISM DETECTION MARKET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6381750" y="254734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Ready for Enterprise Budgets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6381750" y="3080742"/>
            <a:ext cx="5229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Universities already allocate massive budgets for content integrity tooling. This solution slots perfectly into their existing CMS at a fraction of the cost.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6381750" y="4295775"/>
            <a:ext cx="5229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Beyond academia, the exact same pipeline serves the urgent needs of newsrooms and government content teams.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Market Opportunity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9" name="Google Shape;22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57625" y="5633888"/>
            <a:ext cx="4476750" cy="52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305276" y="700236"/>
            <a:ext cx="11581447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rPr>
              <a:t>Claim-level truth.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581025" y="1786086"/>
            <a:ext cx="1102995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5E5E5"/>
                </a:solidFill>
                <a:latin typeface="Urbanist"/>
                <a:ea typeface="Urbanist"/>
                <a:cs typeface="Urbanist"/>
                <a:sym typeface="Urbanist"/>
              </a:rPr>
              <a:t>Where the content lives, </a:t>
            </a:r>
            <a:r>
              <a:rPr b="0" i="0" lang="en-US" sz="210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on AMD</a:t>
            </a:r>
            <a:r>
              <a:rPr b="0" i="0" lang="en-US" sz="2100" u="none" cap="none" strike="noStrike">
                <a:solidFill>
                  <a:srgbClr val="E5E5E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581025" y="2593776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Explore the project: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581025" y="3127176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GitHub Repo &amp; Demos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581025" y="3721447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Demo Video Link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581025" y="4315717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95275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drupal.org Project Page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3857625" y="5929163"/>
            <a:ext cx="1428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37373"/>
                </a:solidFill>
                <a:latin typeface="Urbanist"/>
                <a:ea typeface="Urbanist"/>
                <a:cs typeface="Urbanist"/>
                <a:sym typeface="Urbanist"/>
              </a:rPr>
              <a:t>Drupal AI Router</a:t>
            </a:r>
            <a:endParaRPr/>
          </a:p>
        </p:txBody>
      </p:sp>
      <p:pic>
        <p:nvPicPr>
          <p:cNvPr descr="image.png" id="238" name="Google Shape;238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00600" y="3184326"/>
            <a:ext cx="2190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95875" y="3778597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57737" y="4372867"/>
            <a:ext cx="200025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5" name="Google Shape;24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/>
          <p:cNvSpPr/>
          <p:nvPr/>
        </p:nvSpPr>
        <p:spPr>
          <a:xfrm>
            <a:off x="581025" y="1551979"/>
            <a:ext cx="11029950" cy="9828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581025" y="2534840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581025" y="3319611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581025" y="4104382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581025" y="4889152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581025" y="252531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581025" y="252531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581025" y="331008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581025" y="331008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3"/>
          <p:cNvSpPr/>
          <p:nvPr/>
        </p:nvSpPr>
        <p:spPr>
          <a:xfrm>
            <a:off x="581025" y="409485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3"/>
          <p:cNvSpPr/>
          <p:nvPr/>
        </p:nvSpPr>
        <p:spPr>
          <a:xfrm>
            <a:off x="581025" y="409485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3"/>
          <p:cNvSpPr/>
          <p:nvPr/>
        </p:nvSpPr>
        <p:spPr>
          <a:xfrm>
            <a:off x="581025" y="487962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581025" y="487962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581025" y="566439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581025" y="566439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61" name="Google Shape;2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80052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3"/>
          <p:cNvSpPr txBox="1"/>
          <p:nvPr/>
        </p:nvSpPr>
        <p:spPr>
          <a:xfrm>
            <a:off x="1676400" y="1694854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https://media.istockphoto.com/id/1351817308/vector/cyber-network-vision-digital-communication-cloud.jpg?s=612x612&amp;w=0&amp;k=20&amp;c=gvc7_G0DTcU5ulKRA54cBJ7fymmXlMddWGqpi8RKdok=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1676400" y="2138660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www.istockphoto.com</a:t>
            </a:r>
            <a:endParaRPr/>
          </a:p>
        </p:txBody>
      </p:sp>
      <p:pic>
        <p:nvPicPr>
          <p:cNvPr descr="image.png" id="264" name="Google Shape;264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68426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3"/>
          <p:cNvSpPr txBox="1"/>
          <p:nvPr/>
        </p:nvSpPr>
        <p:spPr>
          <a:xfrm>
            <a:off x="1676400" y="2677715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https://static1.gensler.com/uploads/image/106927/1779399209087/project-convergence-hall-1024x576.jpg</a:t>
            </a:r>
            <a:endParaRPr/>
          </a:p>
        </p:txBody>
      </p:sp>
      <p:sp>
        <p:nvSpPr>
          <p:cNvPr id="266" name="Google Shape;266;p23"/>
          <p:cNvSpPr txBox="1"/>
          <p:nvPr/>
        </p:nvSpPr>
        <p:spPr>
          <a:xfrm>
            <a:off x="1676400" y="2923430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www.gensler.com</a:t>
            </a:r>
            <a:endParaRPr/>
          </a:p>
        </p:txBody>
      </p:sp>
      <p:pic>
        <p:nvPicPr>
          <p:cNvPr descr="image.png" id="267" name="Google Shape;267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46903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3"/>
          <p:cNvSpPr txBox="1"/>
          <p:nvPr/>
        </p:nvSpPr>
        <p:spPr>
          <a:xfrm>
            <a:off x="1676400" y="3462486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https://miro.medium.com/v2/resize:fit:1400/1*OP2wAD2SIoZzk0T9S5wUkA.png</a:t>
            </a:r>
            <a:endParaRPr/>
          </a:p>
        </p:txBody>
      </p:sp>
      <p:sp>
        <p:nvSpPr>
          <p:cNvPr id="269" name="Google Shape;269;p23"/>
          <p:cNvSpPr txBox="1"/>
          <p:nvPr/>
        </p:nvSpPr>
        <p:spPr>
          <a:xfrm>
            <a:off x="1676400" y="3708201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itnext.io</a:t>
            </a:r>
            <a:endParaRPr/>
          </a:p>
        </p:txBody>
      </p:sp>
      <p:pic>
        <p:nvPicPr>
          <p:cNvPr descr="image.png" id="270" name="Google Shape;270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25380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3"/>
          <p:cNvSpPr txBox="1"/>
          <p:nvPr/>
        </p:nvSpPr>
        <p:spPr>
          <a:xfrm>
            <a:off x="1676400" y="4247257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https://img.magnific.com/premium-vector/ai-workspace-dashboard-with-generative-ai-tools-analytics_624163-12275.jpg</a:t>
            </a:r>
            <a:endParaRPr/>
          </a:p>
        </p:txBody>
      </p:sp>
      <p:sp>
        <p:nvSpPr>
          <p:cNvPr id="272" name="Google Shape;272;p23"/>
          <p:cNvSpPr txBox="1"/>
          <p:nvPr/>
        </p:nvSpPr>
        <p:spPr>
          <a:xfrm>
            <a:off x="1676400" y="4492972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www.magnific.com</a:t>
            </a:r>
            <a:endParaRPr/>
          </a:p>
        </p:txBody>
      </p:sp>
      <p:pic>
        <p:nvPicPr>
          <p:cNvPr descr="image.png" id="273" name="Google Shape;273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503857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3"/>
          <p:cNvSpPr txBox="1"/>
          <p:nvPr/>
        </p:nvSpPr>
        <p:spPr>
          <a:xfrm>
            <a:off x="1676400" y="5032027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https://success.outsystems.com/TK_Resource/a69efa31-8bfa-4cad-8045-987a35ad792b</a:t>
            </a:r>
            <a:endParaRPr/>
          </a:p>
        </p:txBody>
      </p:sp>
      <p:sp>
        <p:nvSpPr>
          <p:cNvPr id="275" name="Google Shape;275;p23"/>
          <p:cNvSpPr txBox="1"/>
          <p:nvPr/>
        </p:nvSpPr>
        <p:spPr>
          <a:xfrm>
            <a:off x="1676400" y="5277742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success.outsystems.com</a:t>
            </a:r>
            <a:endParaRPr/>
          </a:p>
        </p:txBody>
      </p:sp>
      <p:pic>
        <p:nvPicPr>
          <p:cNvPr descr="image.png" id="276" name="Google Shape;276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1025" y="582334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3"/>
          <p:cNvSpPr txBox="1"/>
          <p:nvPr/>
        </p:nvSpPr>
        <p:spPr>
          <a:xfrm>
            <a:off x="1676400" y="5816798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https://images.presentationgo.com/2025/06/interconnected-digital-network.jpg</a:t>
            </a:r>
            <a:endParaRPr/>
          </a:p>
        </p:txBody>
      </p:sp>
      <p:sp>
        <p:nvSpPr>
          <p:cNvPr id="278" name="Google Shape;278;p23"/>
          <p:cNvSpPr txBox="1"/>
          <p:nvPr/>
        </p:nvSpPr>
        <p:spPr>
          <a:xfrm>
            <a:off x="1676400" y="6062513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www.presentationgo.com</a:t>
            </a:r>
            <a:endParaRPr/>
          </a:p>
        </p:txBody>
      </p:sp>
      <p:sp>
        <p:nvSpPr>
          <p:cNvPr id="279" name="Google Shape;279;p23"/>
          <p:cNvSpPr txBox="1"/>
          <p:nvPr/>
        </p:nvSpPr>
        <p:spPr>
          <a:xfrm>
            <a:off x="581025" y="408979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0" name="Google Shape;280;p23"/>
          <p:cNvSpPr/>
          <p:nvPr/>
        </p:nvSpPr>
        <p:spPr>
          <a:xfrm>
            <a:off x="581025" y="1151929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5" name="Google Shape;28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05112" y="376222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4"/>
          <p:cNvSpPr txBox="1"/>
          <p:nvPr/>
        </p:nvSpPr>
        <p:spPr>
          <a:xfrm>
            <a:off x="3900487" y="3755677"/>
            <a:ext cx="5486400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https://cdn.shopify.com/s/files/1/0668/4160/8391/files/6a03bee2b6245ba3e5ca71ea.jpg?v=1778753301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3900487" y="4001392"/>
            <a:ext cx="54864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us.ktcplay.com</a:t>
            </a:r>
            <a:endParaRPr/>
          </a:p>
        </p:txBody>
      </p:sp>
      <p:sp>
        <p:nvSpPr>
          <p:cNvPr id="289" name="Google Shape;289;p24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90" name="Google Shape;290;p24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