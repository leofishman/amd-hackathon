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2000"/>
  <p:notesSz cx="6858000" cy="9144000"/>
  <p:embeddedFontLst>
    <p:embeddedFont>
      <p:font typeface="Urbanist SemiBold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Urbanist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2" name="Sebastian Fishman"/>
  <p:cmAuthor clrIdx="1" id="1" initials="" lastIdx="2" name="Leo Fishma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UrbanistSemiBold-boldItalic.fntdata"/><Relationship Id="rId22" Type="http://schemas.openxmlformats.org/officeDocument/2006/relationships/font" Target="fonts/Urbanist-bold.fntdata"/><Relationship Id="rId21" Type="http://schemas.openxmlformats.org/officeDocument/2006/relationships/font" Target="fonts/Urbanist-regular.fntdata"/><Relationship Id="rId24" Type="http://schemas.openxmlformats.org/officeDocument/2006/relationships/font" Target="fonts/Urbanist-boldItalic.fntdata"/><Relationship Id="rId23" Type="http://schemas.openxmlformats.org/officeDocument/2006/relationships/font" Target="fonts/Urbanist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font" Target="fonts/UrbanistExtraBold-boldItalic.fntdata"/><Relationship Id="rId25" Type="http://schemas.openxmlformats.org/officeDocument/2006/relationships/font" Target="fonts/UrbanistExtraBold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UrbanistSemiBold-regular.fntdata"/><Relationship Id="rId16" Type="http://schemas.openxmlformats.org/officeDocument/2006/relationships/slide" Target="slides/slide10.xml"/><Relationship Id="rId19" Type="http://schemas.openxmlformats.org/officeDocument/2006/relationships/font" Target="fonts/UrbanistSemiBold-italic.fntdata"/><Relationship Id="rId18" Type="http://schemas.openxmlformats.org/officeDocument/2006/relationships/font" Target="fonts/UrbanistSemiBold-bold.fntdata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7-06T22:24:33.815">
    <p:pos x="654" y="2053"/>
    <p:text>Este es el language comun? corpus?
La cambie la coma al final por un punto.</p:text>
  </p:cm>
  <p:cm authorId="1" idx="1" dt="2026-07-06T22:24:33.815">
    <p:pos x="654" y="2053"/>
    <p:text>si, el corpus de informacion, creo que es asi, no vi la coma.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7-06T22:27:09.428">
    <p:pos x="2988" y="2550"/>
    <p:text>Honestly framed? es una expression tecnica?</p:text>
  </p:cm>
  <p:cm authorId="1" idx="2" dt="2026-07-06T22:27:09.428">
    <p:pos x="2988" y="2550"/>
    <p:text>segun google, parece que si:Sí, la expresión "honestly framed" es perfectamente correcta, precisa y muy recomendada en ese contexto.En el ámbito del software y la inteligencia artificial, se utiliza "framed" (de framing o encuadre) para definir cómo se le presentan las expectativas al usuario para que no malinterprete los resultados.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Muy bueno !!!!!! Excelente!!!!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11.png"/><Relationship Id="rId9" Type="http://schemas.openxmlformats.org/officeDocument/2006/relationships/image" Target="../media/image7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omments" Target="../comments/comment2.xml"/><Relationship Id="rId4" Type="http://schemas.openxmlformats.org/officeDocument/2006/relationships/image" Target="../media/image5.png"/><Relationship Id="rId11" Type="http://schemas.openxmlformats.org/officeDocument/2006/relationships/image" Target="../media/image16.png"/><Relationship Id="rId10" Type="http://schemas.openxmlformats.org/officeDocument/2006/relationships/image" Target="../media/image13.png"/><Relationship Id="rId12" Type="http://schemas.openxmlformats.org/officeDocument/2006/relationships/image" Target="../media/image8.png"/><Relationship Id="rId9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9.png"/><Relationship Id="rId7" Type="http://schemas.openxmlformats.org/officeDocument/2006/relationships/image" Target="../media/image2.png"/><Relationship Id="rId8" Type="http://schemas.openxmlformats.org/officeDocument/2006/relationships/image" Target="../media/image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11" Type="http://schemas.openxmlformats.org/officeDocument/2006/relationships/image" Target="../media/image25.png"/><Relationship Id="rId10" Type="http://schemas.openxmlformats.org/officeDocument/2006/relationships/image" Target="../media/image37.png"/><Relationship Id="rId12" Type="http://schemas.openxmlformats.org/officeDocument/2006/relationships/image" Target="../media/image34.png"/><Relationship Id="rId9" Type="http://schemas.openxmlformats.org/officeDocument/2006/relationships/image" Target="../media/image24.png"/><Relationship Id="rId5" Type="http://schemas.openxmlformats.org/officeDocument/2006/relationships/image" Target="../media/image27.png"/><Relationship Id="rId6" Type="http://schemas.openxmlformats.org/officeDocument/2006/relationships/image" Target="../media/image20.png"/><Relationship Id="rId7" Type="http://schemas.openxmlformats.org/officeDocument/2006/relationships/image" Target="../media/image31.png"/><Relationship Id="rId8" Type="http://schemas.openxmlformats.org/officeDocument/2006/relationships/image" Target="../media/image2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33.png"/><Relationship Id="rId5" Type="http://schemas.openxmlformats.org/officeDocument/2006/relationships/image" Target="../media/image36.png"/><Relationship Id="rId6" Type="http://schemas.openxmlformats.org/officeDocument/2006/relationships/image" Target="../media/image3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0.png"/><Relationship Id="rId5" Type="http://schemas.openxmlformats.org/officeDocument/2006/relationships/image" Target="../media/image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6.png"/><Relationship Id="rId5" Type="http://schemas.openxmlformats.org/officeDocument/2006/relationships/image" Target="../media/image21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Relationship Id="rId8" Type="http://schemas.openxmlformats.org/officeDocument/2006/relationships/image" Target="../media/image3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9.png"/><Relationship Id="rId11" Type="http://schemas.openxmlformats.org/officeDocument/2006/relationships/image" Target="../media/image42.png"/><Relationship Id="rId10" Type="http://schemas.openxmlformats.org/officeDocument/2006/relationships/hyperlink" Target="https://www.drupal.org/project/ai_provider_universal" TargetMode="External"/><Relationship Id="rId9" Type="http://schemas.openxmlformats.org/officeDocument/2006/relationships/image" Target="../media/image40.png"/><Relationship Id="rId5" Type="http://schemas.openxmlformats.org/officeDocument/2006/relationships/hyperlink" Target="https://github.com/leofishman/amd-hackathon" TargetMode="External"/><Relationship Id="rId6" Type="http://schemas.openxmlformats.org/officeDocument/2006/relationships/hyperlink" Target="https://amd-hackathon.fishman.work/" TargetMode="External"/><Relationship Id="rId7" Type="http://schemas.openxmlformats.org/officeDocument/2006/relationships/image" Target="../media/image41.png"/><Relationship Id="rId8" Type="http://schemas.openxmlformats.org/officeDocument/2006/relationships/hyperlink" Target="https://www.youtube.com/watch?v=WqwtFhDbv20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4685258"/>
            <a:ext cx="5715000" cy="68758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038225" y="1485155"/>
            <a:ext cx="11101387" cy="150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Drupal AI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5400" u="none" cap="none" strike="noStrik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Factchecker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38225" y="3260377"/>
            <a:ext cx="105729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Claim-level verification on your own </a:t>
            </a:r>
            <a:r>
              <a:rPr b="0" i="0" lang="en-US" sz="21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corpus</a:t>
            </a:r>
            <a:r>
              <a:rPr lang="en-US" sz="2100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2100" u="none" cap="none" strike="noStrike">
                <a:solidFill>
                  <a:srgbClr val="ED1C24"/>
                </a:solidFill>
                <a:latin typeface="Urbanist"/>
                <a:ea typeface="Urbanist"/>
                <a:cs typeface="Urbanist"/>
                <a:sym typeface="Urbanist"/>
              </a:rPr>
              <a:t>powered by AMD.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38225" y="4885283"/>
            <a:ext cx="57150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Team:</a:t>
            </a: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Drupal AI Router (Leo Fishman)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38225" y="5129063"/>
            <a:ext cx="57150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License:</a:t>
            </a:r>
            <a:r>
              <a:rPr b="0" i="0" lang="en-US" sz="120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GPL-2.0+, published on drupal.org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2186136"/>
            <a:ext cx="5229225" cy="3628578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962025" y="2202656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Pre-existing software is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excessively expensive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and operates as a closed, proprietary system.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62025" y="3101578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Universities and governments have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almost zero control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over how their sensitive data is processed.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62025" y="4000500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Tools detect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copying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, not falsehoods. AI-generated essays are "original" and undetectable.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62025" y="4899421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Editors and educators lack an in-workflow tool to verify factual accuracy.</a:t>
            </a:r>
            <a:endParaRPr/>
          </a:p>
        </p:txBody>
      </p:sp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91275" y="2195661"/>
            <a:ext cx="5210175" cy="36095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2255043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315396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052887"/>
            <a:ext cx="1428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1025" y="4951809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 with Current Tools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2512" y="1857375"/>
            <a:ext cx="4286250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6381750" y="271492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Where the content lives, under your control.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381750" y="3248322"/>
            <a:ext cx="5229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Institutions facing this problem (governments, universities) already run Drupal massively (.edu, .gov).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6381750" y="4128194"/>
            <a:ext cx="5229225" cy="1005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Unlike closed SaaS products, a </a:t>
            </a:r>
            <a:r>
              <a:rPr b="0" i="0" lang="en-US" sz="1650" u="none" cap="none" strike="noStrike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highly configurable open-source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Drupal module offers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tight integration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with your own content, keeping your data strictly in-house.</a:t>
            </a:r>
            <a:endParaRPr/>
          </a:p>
        </p:txBody>
      </p:sp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0612" y="1895475"/>
            <a:ext cx="4210050" cy="421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Solution: Native Integration &amp; Control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3" name="Google Shape;123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4" name="Google Shape;12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190750"/>
            <a:ext cx="3486150" cy="36193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52925" y="2190750"/>
            <a:ext cx="3486150" cy="36193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24825" y="2190750"/>
            <a:ext cx="3486150" cy="36193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71550" y="2581275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971550" y="3571875"/>
            <a:ext cx="144299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1. Factcheck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971550" y="4048125"/>
            <a:ext cx="2705100" cy="13714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Atomic claim extraction and evidence retrieval. Per-claim verdict (SUPPORTED / UNSUPPORTED / CONTRADICTED) with auditable score.</a:t>
            </a:r>
            <a:endParaRPr/>
          </a:p>
        </p:txBody>
      </p:sp>
      <p:pic>
        <p:nvPicPr>
          <p:cNvPr descr="image.png" id="130" name="Google Shape;130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743450" y="2581275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4743450" y="3571875"/>
            <a:ext cx="185070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2. AI Likelihood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4743450" y="4048125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0–100 score with rationale. </a:t>
            </a: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Honestly </a:t>
            </a: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framed: presented as a contextual hint, not a definitive mathematical proof.</a:t>
            </a:r>
            <a:endParaRPr/>
          </a:p>
        </p:txBody>
      </p:sp>
      <p:pic>
        <p:nvPicPr>
          <p:cNvPr descr="image.png" id="133" name="Google Shape;133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515350" y="2581275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8515350" y="3571875"/>
            <a:ext cx="2797224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3. Verbatim Plagiarism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515350" y="4048125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Identifies the text's most distinctive sentences and searches them as exact phrases on the web to detect unoriginal copies.</a:t>
            </a:r>
            <a:endParaRPr/>
          </a:p>
        </p:txBody>
      </p:sp>
      <p:pic>
        <p:nvPicPr>
          <p:cNvPr descr="image.png" id="136" name="Google Shape;136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933950" y="277177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705850" y="27717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Product: Native Integrity Suite</a:t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4" name="Google Shape;14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27969"/>
            <a:ext cx="3486150" cy="33450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6" name="Google Shape;14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327969"/>
            <a:ext cx="3486150" cy="33450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7" name="Google Shape;14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327969"/>
            <a:ext cx="3486150" cy="33450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8" name="Google Shape;148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71550" y="271849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971550" y="3709094"/>
            <a:ext cx="2270752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Evidence Cascade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971550" y="4185344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The university's OWN indexed corpus is prioritized first. Verdicts are securely grounded in your institutional knowledge.</a:t>
            </a:r>
            <a:endParaRPr/>
          </a:p>
        </p:txBody>
      </p:sp>
      <p:pic>
        <p:nvPicPr>
          <p:cNvPr descr="image.png" id="151" name="Google Shape;151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43450" y="271849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4743450" y="3709094"/>
            <a:ext cx="139751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Distrust List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4743450" y="4185344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Claims echoed only by known misinformation domains are marked as tainted. Misinformation sites asserting a claim counts AGAINST it.</a:t>
            </a:r>
            <a:endParaRPr/>
          </a:p>
        </p:txBody>
      </p:sp>
      <p:pic>
        <p:nvPicPr>
          <p:cNvPr descr="image.png" id="154" name="Google Shape;154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515350" y="2718494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8515350" y="3709094"/>
            <a:ext cx="1861951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100% Auditable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8515350" y="4185344"/>
            <a:ext cx="2705100" cy="109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Every model call and routing decision is meticulously logged. No other tool combines local evidence with transparent logging.</a:t>
            </a:r>
            <a:endParaRPr/>
          </a:p>
        </p:txBody>
      </p:sp>
      <p:pic>
        <p:nvPicPr>
          <p:cNvPr descr="image.png" id="157" name="Google Shape;157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38237" y="2908994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8" name="Google Shape;158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933950" y="2908994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682037" y="2908994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7"/>
          <p:cNvSpPr txBox="1"/>
          <p:nvPr/>
        </p:nvSpPr>
        <p:spPr>
          <a:xfrm>
            <a:off x="581025" y="581025"/>
            <a:ext cx="11581447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Differentiators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581025" y="1323975"/>
            <a:ext cx="1102995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6" name="Google Shape;16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 txBox="1"/>
          <p:nvPr/>
        </p:nvSpPr>
        <p:spPr>
          <a:xfrm>
            <a:off x="581025" y="1143000"/>
            <a:ext cx="110301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All inference (claim extraction + verification) runs on an </a:t>
            </a:r>
            <a:r>
              <a:rPr b="1" lang="en-US" sz="150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AMD Instinct GPU</a:t>
            </a:r>
            <a:r>
              <a:rPr b="0" lang="en-US" sz="1500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: ROCm 7.2 + vLLM 0.16 serving Gemma.</a:t>
            </a:r>
            <a:endParaRPr b="0" sz="1500">
              <a:solidFill>
                <a:srgbClr val="A3A3A3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ED1C24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Student work NEVER leaves institution-controlled hardware.</a:t>
            </a:r>
            <a:endParaRPr b="0" sz="1500">
              <a:solidFill>
                <a:srgbClr val="ED1C24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grpSp>
        <p:nvGrpSpPr>
          <p:cNvPr id="168" name="Google Shape;168;p18"/>
          <p:cNvGrpSpPr/>
          <p:nvPr/>
        </p:nvGrpSpPr>
        <p:grpSpPr>
          <a:xfrm>
            <a:off x="581025" y="1857375"/>
            <a:ext cx="5315100" cy="4429200"/>
            <a:chOff x="0" y="0"/>
            <a:chExt cx="5315100" cy="4429200"/>
          </a:xfrm>
        </p:grpSpPr>
        <p:sp>
          <p:nvSpPr>
            <p:cNvPr id="169" name="Google Shape;169;p18"/>
            <p:cNvSpPr/>
            <p:nvPr/>
          </p:nvSpPr>
          <p:spPr>
            <a:xfrm>
              <a:off x="0" y="0"/>
              <a:ext cx="5315100" cy="4429200"/>
            </a:xfrm>
            <a:prstGeom prst="roundRect">
              <a:avLst>
                <a:gd fmla="val 3440" name="adj"/>
              </a:avLst>
            </a:prstGeom>
            <a:solidFill>
              <a:srgbClr val="151515"/>
            </a:solidFill>
            <a:ln cap="flat" cmpd="sng" w="14300">
              <a:solidFill>
                <a:srgbClr val="25252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" name="Google Shape;170;p18"/>
            <p:cNvSpPr txBox="1"/>
            <p:nvPr/>
          </p:nvSpPr>
          <p:spPr>
            <a:xfrm>
              <a:off x="285750" y="228600"/>
              <a:ext cx="4743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Local GPU Execution</a:t>
              </a:r>
              <a:endParaRPr b="1" sz="180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D1C24"/>
                  </a:solidFill>
                  <a:latin typeface="Urbanist SemiBold"/>
                  <a:ea typeface="Urbanist SemiBold"/>
                  <a:cs typeface="Urbanist SemiBold"/>
                  <a:sym typeface="Urbanist SemiBold"/>
                </a:rPr>
                <a:t>rocm-smi execution inhouse</a:t>
              </a:r>
              <a:endParaRPr b="0" sz="1250">
                <a:solidFill>
                  <a:srgbClr val="ED1C24"/>
                </a:solidFill>
                <a:latin typeface="Urbanist SemiBold"/>
                <a:ea typeface="Urbanist SemiBold"/>
                <a:cs typeface="Urbanist SemiBold"/>
                <a:sym typeface="Urbanist SemiBold"/>
              </a:endParaRPr>
            </a:p>
          </p:txBody>
        </p:sp>
        <p:pic>
          <p:nvPicPr>
            <p:cNvPr id="171" name="Google Shape;171;p18"/>
            <p:cNvPicPr preferRelativeResize="0"/>
            <p:nvPr/>
          </p:nvPicPr>
          <p:blipFill rotWithShape="1">
            <a:blip r:embed="rId4">
              <a:alphaModFix/>
            </a:blip>
            <a:srcRect b="19679" l="0" r="0" t="19679"/>
            <a:stretch/>
          </p:blipFill>
          <p:spPr>
            <a:xfrm>
              <a:off x="285750" y="895350"/>
              <a:ext cx="4743600" cy="2000100"/>
            </a:xfrm>
            <a:prstGeom prst="roundRect">
              <a:avLst>
                <a:gd fmla="val 3809" name="adj"/>
              </a:avLst>
            </a:prstGeom>
            <a:noFill/>
            <a:ln>
              <a:noFill/>
            </a:ln>
          </p:spPr>
        </p:pic>
        <p:pic>
          <p:nvPicPr>
            <p:cNvPr id="172" name="Google Shape;172;p18"/>
            <p:cNvPicPr preferRelativeResize="0"/>
            <p:nvPr/>
          </p:nvPicPr>
          <p:blipFill rotWithShape="1">
            <a:blip r:embed="rId5">
              <a:alphaModFix/>
            </a:blip>
            <a:srcRect b="0" l="13261" r="13269" t="0"/>
            <a:stretch/>
          </p:blipFill>
          <p:spPr>
            <a:xfrm>
              <a:off x="285750" y="3048000"/>
              <a:ext cx="4743600" cy="1095300"/>
            </a:xfrm>
            <a:prstGeom prst="roundRect">
              <a:avLst>
                <a:gd fmla="val 6956" name="adj"/>
              </a:avLst>
            </a:prstGeom>
            <a:noFill/>
            <a:ln>
              <a:noFill/>
            </a:ln>
          </p:spPr>
        </p:pic>
      </p:grpSp>
      <p:grpSp>
        <p:nvGrpSpPr>
          <p:cNvPr id="173" name="Google Shape;173;p18"/>
          <p:cNvGrpSpPr/>
          <p:nvPr/>
        </p:nvGrpSpPr>
        <p:grpSpPr>
          <a:xfrm>
            <a:off x="6296025" y="1857375"/>
            <a:ext cx="5315100" cy="4429200"/>
            <a:chOff x="0" y="0"/>
            <a:chExt cx="5315100" cy="4429200"/>
          </a:xfrm>
        </p:grpSpPr>
        <p:sp>
          <p:nvSpPr>
            <p:cNvPr id="174" name="Google Shape;174;p18"/>
            <p:cNvSpPr/>
            <p:nvPr/>
          </p:nvSpPr>
          <p:spPr>
            <a:xfrm>
              <a:off x="0" y="0"/>
              <a:ext cx="5315100" cy="4429200"/>
            </a:xfrm>
            <a:prstGeom prst="roundRect">
              <a:avLst>
                <a:gd fmla="val 3440" name="adj"/>
              </a:avLst>
            </a:prstGeom>
            <a:solidFill>
              <a:srgbClr val="151515"/>
            </a:solidFill>
            <a:ln cap="flat" cmpd="sng" w="14300">
              <a:solidFill>
                <a:srgbClr val="25252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" name="Google Shape;175;p18"/>
            <p:cNvSpPr txBox="1"/>
            <p:nvPr/>
          </p:nvSpPr>
          <p:spPr>
            <a:xfrm>
              <a:off x="285750" y="228600"/>
              <a:ext cx="4743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Drupal AI Integration</a:t>
              </a:r>
              <a:endParaRPr b="1" sz="180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ED1C24"/>
                  </a:solidFill>
                  <a:latin typeface="Urbanist SemiBold"/>
                  <a:ea typeface="Urbanist SemiBold"/>
                  <a:cs typeface="Urbanist SemiBold"/>
                  <a:sym typeface="Urbanist SemiBold"/>
                </a:rPr>
                <a:t>AMD server endpoint in Drupal</a:t>
              </a:r>
              <a:endParaRPr b="0" sz="1250">
                <a:solidFill>
                  <a:srgbClr val="ED1C24"/>
                </a:solidFill>
                <a:latin typeface="Urbanist SemiBold"/>
                <a:ea typeface="Urbanist SemiBold"/>
                <a:cs typeface="Urbanist SemiBold"/>
                <a:sym typeface="Urbanist SemiBold"/>
              </a:endParaRPr>
            </a:p>
          </p:txBody>
        </p:sp>
        <p:pic>
          <p:nvPicPr>
            <p:cNvPr id="176" name="Google Shape;176;p18"/>
            <p:cNvPicPr preferRelativeResize="0"/>
            <p:nvPr/>
          </p:nvPicPr>
          <p:blipFill rotWithShape="1">
            <a:blip r:embed="rId6">
              <a:alphaModFix/>
            </a:blip>
            <a:srcRect b="3105" l="0" r="0" t="3095"/>
            <a:stretch/>
          </p:blipFill>
          <p:spPr>
            <a:xfrm>
              <a:off x="285750" y="895350"/>
              <a:ext cx="4743600" cy="3248100"/>
            </a:xfrm>
            <a:prstGeom prst="roundRect">
              <a:avLst>
                <a:gd fmla="val 2346" name="adj"/>
              </a:avLst>
            </a:prstGeom>
            <a:noFill/>
            <a:ln>
              <a:noFill/>
            </a:ln>
          </p:spPr>
        </p:pic>
      </p:grpSp>
      <p:sp>
        <p:nvSpPr>
          <p:cNvPr id="177" name="Google Shape;177;p18"/>
          <p:cNvSpPr txBox="1"/>
          <p:nvPr/>
        </p:nvSpPr>
        <p:spPr>
          <a:xfrm>
            <a:off x="581025" y="464939"/>
            <a:ext cx="1158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Powered by AMD Instinct &amp; Ryzen</a:t>
            </a:r>
            <a:endParaRPr/>
          </a:p>
        </p:txBody>
      </p:sp>
      <p:sp>
        <p:nvSpPr>
          <p:cNvPr id="178" name="Google Shape;178;p18"/>
          <p:cNvSpPr/>
          <p:nvPr/>
        </p:nvSpPr>
        <p:spPr>
          <a:xfrm>
            <a:off x="581025" y="1207889"/>
            <a:ext cx="11030100" cy="192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9"/>
          <p:cNvSpPr txBox="1"/>
          <p:nvPr/>
        </p:nvSpPr>
        <p:spPr>
          <a:xfrm>
            <a:off x="581025" y="581025"/>
            <a:ext cx="5490686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Architecture Flow</a:t>
            </a:r>
            <a:endParaRPr/>
          </a:p>
        </p:txBody>
      </p:sp>
      <p:pic>
        <p:nvPicPr>
          <p:cNvPr descr="image.png" id="185" name="Google Shape;18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9525"/>
            <a:ext cx="580072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581025" y="5084266"/>
            <a:ext cx="5229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ED1C24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Everything—models, backends, evidence sources, trust lists—is Drupal configuration, not code.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962025" y="1979711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Trigger: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Drupal Node → Content Scan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962025" y="2543472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Routing: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ai_provider_universal router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962025" y="3107233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Processing: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AMD GPU (vLLM/Gemma)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962025" y="3671001"/>
            <a:ext cx="5109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Retrieval: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Vector index (local corpus) + Tavily (web)</a:t>
            </a:r>
            <a:endParaRPr/>
          </a:p>
        </p:txBody>
      </p:sp>
      <p:sp>
        <p:nvSpPr>
          <p:cNvPr id="191" name="Google Shape;191;p19"/>
          <p:cNvSpPr txBox="1"/>
          <p:nvPr/>
        </p:nvSpPr>
        <p:spPr>
          <a:xfrm>
            <a:off x="962025" y="4234755"/>
            <a:ext cx="4648200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Auditing: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Securely logged decisions report</a:t>
            </a:r>
            <a:endParaRPr/>
          </a:p>
        </p:txBody>
      </p:sp>
      <p:pic>
        <p:nvPicPr>
          <p:cNvPr descr="image.png" id="192" name="Google Shape;192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032099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59586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159621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723382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6" name="Google Shape;19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4287142"/>
            <a:ext cx="17145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1" name="Google Shape;20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0"/>
          <p:cNvSpPr txBox="1"/>
          <p:nvPr/>
        </p:nvSpPr>
        <p:spPr>
          <a:xfrm>
            <a:off x="581025" y="581025"/>
            <a:ext cx="5490686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Real and Ready</a:t>
            </a:r>
            <a:endParaRPr/>
          </a:p>
        </p:txBody>
      </p:sp>
      <p:pic>
        <p:nvPicPr>
          <p:cNvPr descr="image.png" id="203" name="Google Shape;20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9525"/>
            <a:ext cx="580072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962025" y="2313086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Built as a real, production-ready open-source module on </a:t>
            </a: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drupal.org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962025" y="3212008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Built directly on top of the official Drupal AI ecosystem.</a:t>
            </a:r>
            <a:endParaRPr/>
          </a:p>
        </p:txBody>
      </p:sp>
      <p:sp>
        <p:nvSpPr>
          <p:cNvPr id="206" name="Google Shape;206;p20"/>
          <p:cNvSpPr txBox="1"/>
          <p:nvPr/>
        </p:nvSpPr>
        <p:spPr>
          <a:xfrm>
            <a:off x="962025" y="4110930"/>
            <a:ext cx="4848225" cy="335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Backed by months of prior foundational work.</a:t>
            </a:r>
            <a:endParaRPr/>
          </a:p>
        </p:txBody>
      </p:sp>
      <p:sp>
        <p:nvSpPr>
          <p:cNvPr id="207" name="Google Shape;207;p20"/>
          <p:cNvSpPr txBox="1"/>
          <p:nvPr/>
        </p:nvSpPr>
        <p:spPr>
          <a:xfrm>
            <a:off x="962025" y="4674691"/>
            <a:ext cx="4848225" cy="6703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Hackathon Delta:</a:t>
            </a:r>
            <a:r>
              <a:rPr b="0" i="0" lang="en-US" sz="1650" u="none" cap="none" strike="noStrike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rPr>
              <a:t> Adding the critical AMD serving layer and defining the university use case.</a:t>
            </a:r>
            <a:endParaRPr/>
          </a:p>
        </p:txBody>
      </p:sp>
      <p:pic>
        <p:nvPicPr>
          <p:cNvPr descr="image.png" id="208" name="Google Shape;208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365474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3264396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0" name="Google Shape;210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81025" y="416331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1" name="Google Shape;211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81025" y="4727078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6" name="Google Shape;21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7" name="Google Shape;217;p21"/>
          <p:cNvGrpSpPr/>
          <p:nvPr/>
        </p:nvGrpSpPr>
        <p:grpSpPr>
          <a:xfrm>
            <a:off x="762000" y="714375"/>
            <a:ext cx="10668000" cy="1143000"/>
            <a:chOff x="0" y="0"/>
            <a:chExt cx="10668000" cy="1143000"/>
          </a:xfrm>
        </p:grpSpPr>
        <p:sp>
          <p:nvSpPr>
            <p:cNvPr id="218" name="Google Shape;218;p21"/>
            <p:cNvSpPr/>
            <p:nvPr/>
          </p:nvSpPr>
          <p:spPr>
            <a:xfrm>
              <a:off x="0" y="0"/>
              <a:ext cx="10668000" cy="1143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21"/>
            <p:cNvSpPr txBox="1"/>
            <p:nvPr/>
          </p:nvSpPr>
          <p:spPr>
            <a:xfrm>
              <a:off x="0" y="0"/>
              <a:ext cx="106680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4600">
                  <a:solidFill>
                    <a:srgbClr val="ED1C24"/>
                  </a:solidFill>
                  <a:latin typeface="Urbanist"/>
                  <a:ea typeface="Urbanist"/>
                  <a:cs typeface="Urbanist"/>
                  <a:sym typeface="Urbanist"/>
                </a:rPr>
                <a:t>Market Opportunity</a:t>
              </a:r>
              <a:endParaRPr b="1" sz="4600">
                <a:solidFill>
                  <a:srgbClr val="ED1C24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E5E5E5"/>
                  </a:solidFill>
                  <a:latin typeface="Urbanist"/>
                  <a:ea typeface="Urbanist"/>
                  <a:cs typeface="Urbanist"/>
                  <a:sym typeface="Urbanist"/>
                </a:rPr>
                <a:t>Sizing the content integrity and plagiarism detection landscape.</a:t>
              </a:r>
              <a:endParaRPr b="0" sz="1800">
                <a:solidFill>
                  <a:srgbClr val="E5E5E5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grpSp>
        <p:nvGrpSpPr>
          <p:cNvPr id="220" name="Google Shape;220;p21"/>
          <p:cNvGrpSpPr/>
          <p:nvPr/>
        </p:nvGrpSpPr>
        <p:grpSpPr>
          <a:xfrm>
            <a:off x="762000" y="2095500"/>
            <a:ext cx="4572000" cy="4000500"/>
            <a:chOff x="0" y="0"/>
            <a:chExt cx="4572000" cy="4000500"/>
          </a:xfrm>
        </p:grpSpPr>
        <p:sp>
          <p:nvSpPr>
            <p:cNvPr id="221" name="Google Shape;221;p21"/>
            <p:cNvSpPr/>
            <p:nvPr/>
          </p:nvSpPr>
          <p:spPr>
            <a:xfrm>
              <a:off x="0" y="0"/>
              <a:ext cx="4572000" cy="4000500"/>
            </a:xfrm>
            <a:prstGeom prst="roundRect">
              <a:avLst>
                <a:gd fmla="val 3809" name="adj"/>
              </a:avLst>
            </a:prstGeom>
            <a:solidFill>
              <a:srgbClr val="141414"/>
            </a:solidFill>
            <a:ln cap="flat" cmpd="sng" w="14300">
              <a:solidFill>
                <a:srgbClr val="26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21"/>
            <p:cNvSpPr txBox="1"/>
            <p:nvPr/>
          </p:nvSpPr>
          <p:spPr>
            <a:xfrm>
              <a:off x="285750" y="285750"/>
              <a:ext cx="40005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9600">
                  <a:solidFill>
                    <a:srgbClr val="ED1C24"/>
                  </a:solidFill>
                  <a:latin typeface="Urbanist ExtraBold"/>
                  <a:ea typeface="Urbanist ExtraBold"/>
                  <a:cs typeface="Urbanist ExtraBold"/>
                  <a:sym typeface="Urbanist ExtraBold"/>
                </a:rPr>
                <a:t>$1.2B</a:t>
              </a:r>
              <a:endParaRPr b="0" sz="9600">
                <a:solidFill>
                  <a:srgbClr val="ED1C24"/>
                </a:solidFill>
                <a:latin typeface="Urbanist ExtraBold"/>
                <a:ea typeface="Urbanist ExtraBold"/>
                <a:cs typeface="Urbanist ExtraBold"/>
                <a:sym typeface="Urbanist ExtraBold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PLAGIARISM DETECTION MARKET</a:t>
              </a:r>
              <a:endParaRPr b="1" sz="160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grpSp>
        <p:nvGrpSpPr>
          <p:cNvPr id="223" name="Google Shape;223;p21"/>
          <p:cNvGrpSpPr/>
          <p:nvPr/>
        </p:nvGrpSpPr>
        <p:grpSpPr>
          <a:xfrm>
            <a:off x="5715000" y="2095500"/>
            <a:ext cx="5715000" cy="1857300"/>
            <a:chOff x="0" y="0"/>
            <a:chExt cx="5715000" cy="1857300"/>
          </a:xfrm>
        </p:grpSpPr>
        <p:sp>
          <p:nvSpPr>
            <p:cNvPr id="224" name="Google Shape;224;p21"/>
            <p:cNvSpPr/>
            <p:nvPr/>
          </p:nvSpPr>
          <p:spPr>
            <a:xfrm>
              <a:off x="0" y="0"/>
              <a:ext cx="5715000" cy="1857300"/>
            </a:xfrm>
            <a:prstGeom prst="roundRect">
              <a:avLst>
                <a:gd fmla="val 8205" name="adj"/>
              </a:avLst>
            </a:prstGeom>
            <a:solidFill>
              <a:srgbClr val="141414"/>
            </a:solidFill>
            <a:ln cap="flat" cmpd="sng" w="14300">
              <a:solidFill>
                <a:srgbClr val="26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21"/>
            <p:cNvSpPr txBox="1"/>
            <p:nvPr/>
          </p:nvSpPr>
          <p:spPr>
            <a:xfrm>
              <a:off x="285750" y="238125"/>
              <a:ext cx="5143500" cy="138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ED1C2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school</a:t>
              </a:r>
              <a:r>
                <a:rPr b="1" lang="en-US" sz="20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Ready for Enterprise Budgets</a:t>
              </a:r>
              <a:endParaRPr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A3A3A3"/>
                  </a:solidFill>
                  <a:latin typeface="Urbanist"/>
                  <a:ea typeface="Urbanist"/>
                  <a:cs typeface="Urbanist"/>
                  <a:sym typeface="Urbanist"/>
                </a:rPr>
                <a:t>Universities already allocate massive budgets for content integrity tooling. This solution slots perfectly into their existing CMS at a fraction of the cost.</a:t>
              </a:r>
              <a:endParaRPr b="0" sz="1350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grpSp>
        <p:nvGrpSpPr>
          <p:cNvPr id="226" name="Google Shape;226;p21"/>
          <p:cNvGrpSpPr/>
          <p:nvPr/>
        </p:nvGrpSpPr>
        <p:grpSpPr>
          <a:xfrm>
            <a:off x="5715000" y="4238625"/>
            <a:ext cx="5715000" cy="1857300"/>
            <a:chOff x="0" y="0"/>
            <a:chExt cx="5715000" cy="1857300"/>
          </a:xfrm>
        </p:grpSpPr>
        <p:sp>
          <p:nvSpPr>
            <p:cNvPr id="227" name="Google Shape;227;p21"/>
            <p:cNvSpPr/>
            <p:nvPr/>
          </p:nvSpPr>
          <p:spPr>
            <a:xfrm>
              <a:off x="0" y="0"/>
              <a:ext cx="5715000" cy="1857300"/>
            </a:xfrm>
            <a:prstGeom prst="roundRect">
              <a:avLst>
                <a:gd fmla="val 8205" name="adj"/>
              </a:avLst>
            </a:prstGeom>
            <a:solidFill>
              <a:srgbClr val="141414"/>
            </a:solidFill>
            <a:ln cap="flat" cmpd="sng" w="14300">
              <a:solidFill>
                <a:srgbClr val="26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21"/>
            <p:cNvSpPr txBox="1"/>
            <p:nvPr/>
          </p:nvSpPr>
          <p:spPr>
            <a:xfrm>
              <a:off x="285750" y="238125"/>
              <a:ext cx="5143500" cy="1381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ED1C2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business</a:t>
              </a:r>
              <a:r>
                <a:rPr b="1" lang="en-US" sz="20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Multi-Sector Expansion</a:t>
              </a:r>
              <a:endParaRPr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350">
                  <a:solidFill>
                    <a:srgbClr val="A3A3A3"/>
                  </a:solidFill>
                  <a:latin typeface="Urbanist"/>
                  <a:ea typeface="Urbanist"/>
                  <a:cs typeface="Urbanist"/>
                  <a:sym typeface="Urbanist"/>
                </a:rPr>
                <a:t>Beyond academia, the exact same pipeline serves the urgent needs of newsrooms, investigation academies, and government content teams which mo</a:t>
              </a:r>
              <a:r>
                <a:rPr lang="en-US" sz="1350">
                  <a:solidFill>
                    <a:srgbClr val="A3A3A3"/>
                  </a:solidFill>
                  <a:latin typeface="Urbanist"/>
                  <a:ea typeface="Urbanist"/>
                  <a:cs typeface="Urbanist"/>
                  <a:sym typeface="Urbanist"/>
                </a:rPr>
                <a:t>st of them are already in Drupal</a:t>
              </a:r>
              <a:r>
                <a:rPr b="0" lang="en-US" sz="1350">
                  <a:solidFill>
                    <a:srgbClr val="A3A3A3"/>
                  </a:solidFill>
                  <a:latin typeface="Urbanist"/>
                  <a:ea typeface="Urbanist"/>
                  <a:cs typeface="Urbanist"/>
                  <a:sym typeface="Urbanist"/>
                </a:rPr>
                <a:t>.</a:t>
              </a:r>
              <a:endParaRPr b="0" sz="1350">
                <a:solidFill>
                  <a:srgbClr val="A3A3A3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3" name="Google Shape;23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2"/>
          <p:cNvSpPr txBox="1"/>
          <p:nvPr/>
        </p:nvSpPr>
        <p:spPr>
          <a:xfrm>
            <a:off x="762000" y="714375"/>
            <a:ext cx="106680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600">
                <a:solidFill>
                  <a:srgbClr val="ED1C24"/>
                </a:solidFill>
                <a:latin typeface="Urbanist"/>
                <a:ea typeface="Urbanist"/>
                <a:cs typeface="Urbanist"/>
                <a:sym typeface="Urbanist"/>
              </a:rPr>
              <a:t>Claim-level truth.</a:t>
            </a:r>
            <a:endParaRPr b="1" sz="4600">
              <a:solidFill>
                <a:srgbClr val="ED1C24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E5E5E5"/>
                </a:solidFill>
                <a:latin typeface="Urbanist"/>
                <a:ea typeface="Urbanist"/>
                <a:cs typeface="Urbanist"/>
                <a:sym typeface="Urbanist"/>
              </a:rPr>
              <a:t>Where the content lives, </a:t>
            </a:r>
            <a:r>
              <a:rPr b="0" lang="en-US" sz="1800">
                <a:solidFill>
                  <a:srgbClr val="FFFFF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on AMD</a:t>
            </a:r>
            <a:r>
              <a:rPr b="0" lang="en-US" sz="1800">
                <a:solidFill>
                  <a:srgbClr val="E5E5E5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 b="0" sz="1800">
              <a:solidFill>
                <a:srgbClr val="E5E5E5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grpSp>
        <p:nvGrpSpPr>
          <p:cNvPr id="235" name="Google Shape;235;p22"/>
          <p:cNvGrpSpPr/>
          <p:nvPr/>
        </p:nvGrpSpPr>
        <p:grpSpPr>
          <a:xfrm>
            <a:off x="762000" y="2190750"/>
            <a:ext cx="3333900" cy="2857500"/>
            <a:chOff x="0" y="0"/>
            <a:chExt cx="3333900" cy="2857500"/>
          </a:xfrm>
        </p:grpSpPr>
        <p:sp>
          <p:nvSpPr>
            <p:cNvPr id="236" name="Google Shape;236;p22"/>
            <p:cNvSpPr/>
            <p:nvPr/>
          </p:nvSpPr>
          <p:spPr>
            <a:xfrm>
              <a:off x="0" y="0"/>
              <a:ext cx="3333900" cy="2857500"/>
            </a:xfrm>
            <a:prstGeom prst="roundRect">
              <a:avLst>
                <a:gd fmla="val 5333" name="adj"/>
              </a:avLst>
            </a:prstGeom>
            <a:solidFill>
              <a:srgbClr val="141414"/>
            </a:solidFill>
            <a:ln cap="flat" cmpd="sng" w="14300">
              <a:solidFill>
                <a:srgbClr val="26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7" name="Google Shape;237;p22"/>
            <p:cNvPicPr preferRelativeResize="0"/>
            <p:nvPr/>
          </p:nvPicPr>
          <p:blipFill rotWithShape="1">
            <a:blip r:embed="rId4">
              <a:alphaModFix/>
            </a:blip>
            <a:srcRect b="4002" l="0" r="0" t="4002"/>
            <a:stretch/>
          </p:blipFill>
          <p:spPr>
            <a:xfrm>
              <a:off x="285750" y="285750"/>
              <a:ext cx="304800" cy="304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8" name="Google Shape;238;p22"/>
            <p:cNvSpPr txBox="1"/>
            <p:nvPr/>
          </p:nvSpPr>
          <p:spPr>
            <a:xfrm>
              <a:off x="285750" y="809625"/>
              <a:ext cx="2762400" cy="18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GitHub Repo &amp; Demos</a:t>
              </a:r>
              <a:endParaRPr b="1" sz="160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ED1C24"/>
                  </a:solidFill>
                  <a:uFill>
                    <a:noFill/>
                  </a:uFill>
                  <a:latin typeface="Arial"/>
                  <a:ea typeface="Arial"/>
                  <a:cs typeface="Arial"/>
                  <a:sym typeface="Arial"/>
                  <a:hlinkClick r:id="rId5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https://github.com/leofishman/amd-hackathon</a:t>
              </a:r>
              <a:br>
                <a:rPr b="1" lang="en-US" sz="10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</a:br>
              <a:br>
                <a:rPr b="1" lang="en-US" sz="1000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</a:br>
              <a:r>
                <a:rPr b="0" lang="en-US" sz="1000">
                  <a:solidFill>
                    <a:srgbClr val="ED1C24"/>
                  </a:solidFill>
                  <a:uFill>
                    <a:noFill/>
                  </a:uFill>
                  <a:latin typeface="Arial"/>
                  <a:ea typeface="Arial"/>
                  <a:cs typeface="Arial"/>
                  <a:sym typeface="Arial"/>
                  <a:hlinkClick r:id="rId6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https://amd-hackathon.fishman.work/</a:t>
              </a:r>
              <a:endParaRPr b="1" sz="100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grpSp>
        <p:nvGrpSpPr>
          <p:cNvPr id="239" name="Google Shape;239;p22"/>
          <p:cNvGrpSpPr/>
          <p:nvPr/>
        </p:nvGrpSpPr>
        <p:grpSpPr>
          <a:xfrm>
            <a:off x="4378921" y="2190750"/>
            <a:ext cx="3333900" cy="2857500"/>
            <a:chOff x="0" y="0"/>
            <a:chExt cx="3333900" cy="2857500"/>
          </a:xfrm>
        </p:grpSpPr>
        <p:sp>
          <p:nvSpPr>
            <p:cNvPr id="240" name="Google Shape;240;p22"/>
            <p:cNvSpPr/>
            <p:nvPr/>
          </p:nvSpPr>
          <p:spPr>
            <a:xfrm>
              <a:off x="0" y="0"/>
              <a:ext cx="3333900" cy="2857500"/>
            </a:xfrm>
            <a:prstGeom prst="roundRect">
              <a:avLst>
                <a:gd fmla="val 5333" name="adj"/>
              </a:avLst>
            </a:prstGeom>
            <a:solidFill>
              <a:srgbClr val="141414"/>
            </a:solidFill>
            <a:ln cap="flat" cmpd="sng" w="14300">
              <a:solidFill>
                <a:srgbClr val="26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41" name="Google Shape;241;p22"/>
            <p:cNvPicPr preferRelativeResize="0"/>
            <p:nvPr/>
          </p:nvPicPr>
          <p:blipFill rotWithShape="1">
            <a:blip r:embed="rId7">
              <a:alphaModFix/>
            </a:blip>
            <a:srcRect b="2006" l="0" r="0" t="1997"/>
            <a:stretch/>
          </p:blipFill>
          <p:spPr>
            <a:xfrm>
              <a:off x="285750" y="285750"/>
              <a:ext cx="228600" cy="304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2" name="Google Shape;242;p22"/>
            <p:cNvSpPr txBox="1"/>
            <p:nvPr/>
          </p:nvSpPr>
          <p:spPr>
            <a:xfrm>
              <a:off x="285750" y="809625"/>
              <a:ext cx="2927700" cy="1809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369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Demo Video Link</a:t>
              </a:r>
              <a:endParaRPr b="1" sz="1369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025">
                  <a:solidFill>
                    <a:srgbClr val="ED1C24"/>
                  </a:solidFill>
                  <a:uFill>
                    <a:noFill/>
                  </a:uFill>
                  <a:latin typeface="Arial"/>
                  <a:ea typeface="Arial"/>
                  <a:cs typeface="Arial"/>
                  <a:sym typeface="Arial"/>
                  <a:hlinkClick r:id="rId8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https://www.youtube.com/watch?v=WqwtFhDbv20</a:t>
              </a:r>
              <a:endParaRPr b="1" sz="1025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grpSp>
        <p:nvGrpSpPr>
          <p:cNvPr id="243" name="Google Shape;243;p22"/>
          <p:cNvGrpSpPr/>
          <p:nvPr/>
        </p:nvGrpSpPr>
        <p:grpSpPr>
          <a:xfrm>
            <a:off x="7963975" y="2190750"/>
            <a:ext cx="3466256" cy="2857500"/>
            <a:chOff x="0" y="0"/>
            <a:chExt cx="3333900" cy="2857500"/>
          </a:xfrm>
        </p:grpSpPr>
        <p:sp>
          <p:nvSpPr>
            <p:cNvPr id="244" name="Google Shape;244;p22"/>
            <p:cNvSpPr/>
            <p:nvPr/>
          </p:nvSpPr>
          <p:spPr>
            <a:xfrm>
              <a:off x="0" y="0"/>
              <a:ext cx="3333900" cy="2857500"/>
            </a:xfrm>
            <a:prstGeom prst="roundRect">
              <a:avLst>
                <a:gd fmla="val 5333" name="adj"/>
              </a:avLst>
            </a:prstGeom>
            <a:solidFill>
              <a:srgbClr val="141414"/>
            </a:solidFill>
            <a:ln cap="flat" cmpd="sng" w="14300">
              <a:solidFill>
                <a:srgbClr val="26262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45" name="Google Shape;245;p22"/>
            <p:cNvPicPr preferRelativeResize="0"/>
            <p:nvPr/>
          </p:nvPicPr>
          <p:blipFill rotWithShape="1">
            <a:blip r:embed="rId9">
              <a:alphaModFix/>
            </a:blip>
            <a:srcRect b="0" l="288" r="278" t="0"/>
            <a:stretch/>
          </p:blipFill>
          <p:spPr>
            <a:xfrm>
              <a:off x="285750" y="285750"/>
              <a:ext cx="266700" cy="304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6" name="Google Shape;246;p22"/>
            <p:cNvSpPr txBox="1"/>
            <p:nvPr/>
          </p:nvSpPr>
          <p:spPr>
            <a:xfrm>
              <a:off x="285756" y="852225"/>
              <a:ext cx="3048000" cy="17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58">
                  <a:solidFill>
                    <a:srgbClr val="FFFFFF"/>
                  </a:solidFill>
                  <a:latin typeface="Urbanist"/>
                  <a:ea typeface="Urbanist"/>
                  <a:cs typeface="Urbanist"/>
                  <a:sym typeface="Urbanist"/>
                </a:rPr>
                <a:t>drupal.org Project Page</a:t>
              </a:r>
              <a:endParaRPr b="1" sz="1258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025">
                  <a:solidFill>
                    <a:srgbClr val="ED1C24"/>
                  </a:solidFill>
                  <a:uFill>
                    <a:noFill/>
                  </a:uFill>
                  <a:latin typeface="Arial"/>
                  <a:ea typeface="Arial"/>
                  <a:cs typeface="Arial"/>
                  <a:sym typeface="Arial"/>
                  <a:hlinkClick r:id="rId10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https://www.drupal.org/project/ai_provider_universal</a:t>
              </a:r>
              <a:endParaRPr b="1" sz="1025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</p:grpSp>
      <p:pic>
        <p:nvPicPr>
          <p:cNvPr id="247" name="Google Shape;247;p22"/>
          <p:cNvPicPr preferRelativeResize="0"/>
          <p:nvPr/>
        </p:nvPicPr>
        <p:blipFill rotWithShape="1">
          <a:blip r:embed="rId11">
            <a:alphaModFix/>
          </a:blip>
          <a:srcRect b="894" l="0" r="0" t="894"/>
          <a:stretch/>
        </p:blipFill>
        <p:spPr>
          <a:xfrm>
            <a:off x="762000" y="5524500"/>
            <a:ext cx="4476900" cy="52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